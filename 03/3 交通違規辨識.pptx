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3" r:id="rId2"/>
    <p:sldId id="490" r:id="rId3"/>
    <p:sldId id="70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2CF23-EAD7-9B6E-64F3-28C3A7323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621532-F34E-6569-389A-29D88811D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4D2855-839B-1104-2907-394C66F5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4D53D9-940D-8CE6-118B-1476E0E8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3469D7-E255-71EA-1593-04497E49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81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2A5847-506F-1A91-718C-6388EB3D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236144-81FC-B8B1-59DA-F441ECB32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8F880D-A5E7-A548-D4D3-BD203EA3A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360FC0-DE0B-C789-3499-18B3287B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4A1A24-F45C-FBAE-7E7B-62E7863D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61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A48E38-64B0-A5B0-F511-FC623971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462AFA-758A-1519-8A66-59936CE6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1F96B2-2968-2F97-CED5-E7F3273B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476D47-5645-4426-E276-D9660215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E7691D-EDDB-25B7-4B6D-76D599AC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09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61316-1AAB-80D6-6EAC-8298AA70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E5A9FF-3446-3213-AF35-72E8C7BB9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923C2C-9E0E-4711-5254-9646C8BD8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9C9691-8F69-2F50-3A90-1C1673BF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D48E0B-0A60-8C77-CFC5-6E01D07C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B330BF-DDAC-1C7F-0E18-3C97724B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80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562239-A79E-1177-46EE-FBA8E34C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2C86A1-8F68-AF0A-77D2-4F4DBEB9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D304753-3EB4-DE3B-3624-B7C0EA46F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03B27E3-7672-711F-72AA-8E9538C78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A6A3E5-E0C9-9408-5C10-9EFBBF42C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F9D8B4F-AEAB-5DAA-6C04-B40748BD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E19959B-73A7-2575-2C17-B84E695F6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2B0790-5B7E-8599-CEDF-23D5EE6B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682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0F4B3-DD8A-D4E2-B247-49BA0B9A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920274C-EFC2-65BE-C54C-830F3F998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CBC61E-DFF4-26A7-8964-87A44938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355211-C062-1BBA-B5BB-50C86F92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819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ABB4AFD-4E78-F183-011E-98534842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17A3484-6E54-D6BD-A671-A4933E23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D039BA-10C7-1F76-37C3-BF5C5A84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52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74F756-E1D0-9138-D905-93E78DD6D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9C6339-891B-E07F-855D-D72381B78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D5B406-3F36-4D4F-523A-E6276170B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F46752-1DFB-45BD-F919-BA5AD022B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D3CAA3-6995-A1EA-FD21-EB5F38A9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0D1432-C880-CF93-9B9A-2B54D540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41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15C70-BB2D-E407-FF73-2AC960612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D47925B-AA03-42F6-6AD8-E68DF0969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FEBAC2-23BB-668F-8B3A-478EE829B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FED260-64FD-784B-71E9-6C812C9F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6E23C-BA88-9D91-C8DB-F3C6A1D8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306609-EAF1-6EB4-553F-6431428F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72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CE9341-B453-C1E1-10C5-9753B5BE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768A3F-91B4-795A-2F26-B80EFBD1B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5515BA-4586-82E9-41DE-EBC9E423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7B282-FAE4-CACB-627E-29DC5F44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56BB17-4BEE-DB96-4554-F61440FA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94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8B8F44D-6512-A02F-90B7-56808462F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5D4281-EA03-1C9C-8FB1-B25DDACA8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BF9AC-97EB-57D6-C56F-5CA93AC1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1D1C1-9AF8-08D0-5023-5EE6C490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ED092F-050A-6729-D3A4-C2AA787D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29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0378F-2786-00E8-78C9-31FAACF4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367AAA-BFAF-224A-B0C2-4A37A8AD1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CD9015-3756-E2AD-C95E-ADC9B56E9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42751-7F5F-4F29-870B-39B0617445C3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202158-D2C5-9854-8197-F1DD8516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B33FD6-B58A-DF43-FB2A-32D18E550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374D4-5294-4F0F-9DDC-2034C33DD9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1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1965-BC93-3BA2-CF0D-F957B85A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7C9014-B0A7-9CE8-C30A-74E80D135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8635"/>
            <a:ext cx="9144000" cy="2387600"/>
          </a:xfrm>
        </p:spPr>
        <p:txBody>
          <a:bodyPr/>
          <a:lstStyle/>
          <a:p>
            <a:r>
              <a:rPr lang="en-US" altLang="zh-TW">
                <a:solidFill>
                  <a:srgbClr val="000000"/>
                </a:solidFill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3 </a:t>
            </a:r>
            <a:r>
              <a:rPr lang="zh-TW" altLang="en-US">
                <a:solidFill>
                  <a:srgbClr val="000000"/>
                </a:solidFill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交通違規辨識</a:t>
            </a:r>
            <a:endParaRPr lang="zh-TW" altLang="en-US"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3B2557-D8F0-F094-6BDA-5B7E3B4EC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b="0" i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交通管理</a:t>
            </a:r>
            <a:br>
              <a:rPr lang="zh-TW" altLang="en-US"/>
            </a:br>
            <a:endParaRPr lang="zh-TW" altLang="en-US" b="0" i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C40C54-8ED7-81E2-F45F-490D1052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5491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EFCE-2C04-745E-537A-4930032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7F843-D408-D0EA-6F62-DE3C27472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75" y="270713"/>
            <a:ext cx="10515600" cy="619430"/>
          </a:xfrm>
        </p:spPr>
        <p:txBody>
          <a:bodyPr>
            <a:normAutofit/>
          </a:bodyPr>
          <a:lstStyle/>
          <a:p>
            <a:r>
              <a:rPr lang="en-US" altLang="zh-TW" sz="3200">
                <a:solidFill>
                  <a:srgbClr val="000000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L1</a:t>
            </a:r>
            <a:r>
              <a:rPr lang="zh-TW" altLang="en-US" sz="3200" dirty="0">
                <a:solidFill>
                  <a:srgbClr val="000000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：是否有車輛位於禁停紅線上</a:t>
            </a:r>
            <a:endParaRPr lang="zh-TW" altLang="en-US" sz="3200" dirty="0"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01A7049-07A1-2A44-45C7-942D4E7EDEFF}"/>
              </a:ext>
            </a:extLst>
          </p:cNvPr>
          <p:cNvSpPr txBox="1"/>
          <p:nvPr/>
        </p:nvSpPr>
        <p:spPr>
          <a:xfrm>
            <a:off x="500575" y="890143"/>
            <a:ext cx="11190849" cy="2127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Confirmed </a:t>
            </a:r>
            <a:r>
              <a:rPr lang="zh-TW" altLang="en-US" dirty="0"/>
              <a:t>：有車輛停放於</a:t>
            </a:r>
            <a:r>
              <a:rPr lang="zh-TW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禁停紅線</a:t>
            </a:r>
            <a:r>
              <a:rPr lang="zh-TW" altLang="en-US" dirty="0"/>
              <a:t>的區域。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 </a:t>
            </a:r>
            <a:r>
              <a:rPr lang="zh-TW" altLang="en-US" dirty="0"/>
              <a:t>：畫面中無任何車輛停放於</a:t>
            </a:r>
            <a:r>
              <a:rPr lang="zh-TW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禁停紅線</a:t>
            </a:r>
            <a:r>
              <a:rPr lang="zh-TW" altLang="en-US" dirty="0"/>
              <a:t>的區域。</a:t>
            </a:r>
            <a:r>
              <a:rPr lang="zh-TW" altLang="en-US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若畫面中沒有禁停紅線，則勾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 </a:t>
            </a:r>
            <a:r>
              <a:rPr lang="zh-TW" altLang="en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  <a:endParaRPr lang="en-US" altLang="zh-TW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Confirmed</a:t>
            </a:r>
            <a:r>
              <a:rPr lang="zh-TW" altLang="en-US" dirty="0"/>
              <a:t> ：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圖片破圖、圖片黑白。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chemeClr val="accent1"/>
                </a:solidFill>
              </a:rPr>
              <a:t>禁停紅線的定義：設於道路邊緣的紅色實線，代表全時段禁止臨時或長時間停車的區域，常見於轉角、路口、消防栓前等影響交通安全之處。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FF2805-1994-5D47-A6F5-B1190E050AB8}"/>
              </a:ext>
            </a:extLst>
          </p:cNvPr>
          <p:cNvSpPr txBox="1"/>
          <p:nvPr/>
        </p:nvSpPr>
        <p:spPr>
          <a:xfrm>
            <a:off x="1403445" y="6295800"/>
            <a:ext cx="16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Confirmed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650243-45EA-0F2E-E325-FA0383599791}"/>
              </a:ext>
            </a:extLst>
          </p:cNvPr>
          <p:cNvSpPr txBox="1"/>
          <p:nvPr/>
        </p:nvSpPr>
        <p:spPr>
          <a:xfrm>
            <a:off x="5313314" y="6304201"/>
            <a:ext cx="189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58D14D9C-1C11-31DA-C29B-9EF54524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2</a:t>
            </a:fld>
            <a:endParaRPr kumimoji="1" lang="zh-TW" altLang="en-US"/>
          </a:p>
        </p:txBody>
      </p:sp>
      <p:pic>
        <p:nvPicPr>
          <p:cNvPr id="1026" name="Picture 2" descr="桃園路肩標誌「假日禁停」 民眾平日停車也收罰單傻眼了- 生活- 中時">
            <a:extLst>
              <a:ext uri="{FF2B5EF4-FFF2-40B4-BE49-F238E27FC236}">
                <a16:creationId xmlns:a16="http://schemas.microsoft.com/office/drawing/2014/main" id="{B95544BA-B4C3-734D-7D91-5930C75EE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463" y="3363795"/>
            <a:ext cx="3779520" cy="283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北市紅線多畫70公里罰款暴增2.7億創新高｜卡優新聞網">
            <a:extLst>
              <a:ext uri="{FF2B5EF4-FFF2-40B4-BE49-F238E27FC236}">
                <a16:creationId xmlns:a16="http://schemas.microsoft.com/office/drawing/2014/main" id="{DB5E565E-115B-6F09-5A3A-576AE9580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7" y="3363795"/>
            <a:ext cx="3779520" cy="283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06DDE95-F1C5-5A1B-A746-9FE3CA825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569" y="3363795"/>
            <a:ext cx="3782917" cy="283464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04EEFFB-29C1-340D-5EB0-143AC730A2FF}"/>
              </a:ext>
            </a:extLst>
          </p:cNvPr>
          <p:cNvSpPr txBox="1"/>
          <p:nvPr/>
        </p:nvSpPr>
        <p:spPr>
          <a:xfrm>
            <a:off x="9211763" y="6292400"/>
            <a:ext cx="2185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Confirmed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518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E825-3176-6DE4-8344-35B52497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EFF202-70BB-CBFA-8695-98A8EDB8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76" y="147601"/>
            <a:ext cx="10515600" cy="80442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solidFill>
                  <a:srgbClr val="000000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L1</a:t>
            </a:r>
            <a:r>
              <a:rPr lang="zh-TW" altLang="en-US" sz="3200" dirty="0">
                <a:solidFill>
                  <a:srgbClr val="000000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：是否有非公車之車輛位於公車停靠區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2A17D9-E9CC-7422-B073-287528C01E10}"/>
              </a:ext>
            </a:extLst>
          </p:cNvPr>
          <p:cNvSpPr txBox="1"/>
          <p:nvPr/>
        </p:nvSpPr>
        <p:spPr>
          <a:xfrm>
            <a:off x="566881" y="940881"/>
            <a:ext cx="11384258" cy="2127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Confirmed </a:t>
            </a:r>
            <a:r>
              <a:rPr lang="zh-TW" altLang="en-US" dirty="0"/>
              <a:t>：有非公車車輛（如汽車、機車等）部分或全部停放、暫停或行駛於公車停靠區域內。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 </a:t>
            </a:r>
            <a:r>
              <a:rPr lang="zh-TW" altLang="en-US" dirty="0"/>
              <a:t>：畫面中公車停靠區內無非公車車輛。</a:t>
            </a:r>
            <a:r>
              <a:rPr lang="zh-TW" altLang="en-US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畫面中沒有公車停靠區，則勾選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 </a:t>
            </a:r>
            <a:r>
              <a:rPr lang="zh-TW" altLang="en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  <a:endParaRPr lang="en-US" altLang="zh-TW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Confirmed: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圖片破圖、圖片黑白。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chemeClr val="accent1"/>
                </a:solidFill>
              </a:rPr>
              <a:t>公車停靠區的定義：設置於路邊供公車上下乘客的專用區域，通常以地面標線（如「公車停靠區</a:t>
            </a:r>
            <a:r>
              <a:rPr lang="zh-TW" altLang="en" dirty="0">
                <a:solidFill>
                  <a:schemeClr val="accent1"/>
                </a:solidFill>
              </a:rPr>
              <a:t>」</a:t>
            </a:r>
            <a:r>
              <a:rPr lang="zh-TW" altLang="en-US" dirty="0">
                <a:solidFill>
                  <a:schemeClr val="accent1"/>
                </a:solidFill>
              </a:rPr>
              <a:t>字樣或白色實線框）、公車站牌、候車亭等設施標示，禁止非公車車輛占用。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73888F-D863-4B15-5292-A91A095E166F}"/>
              </a:ext>
            </a:extLst>
          </p:cNvPr>
          <p:cNvSpPr txBox="1"/>
          <p:nvPr/>
        </p:nvSpPr>
        <p:spPr>
          <a:xfrm>
            <a:off x="1414638" y="6277349"/>
            <a:ext cx="185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Confirmed</a:t>
            </a:r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E9CFD20-804D-6AF6-2F45-BB3C2DDAD00E}"/>
              </a:ext>
            </a:extLst>
          </p:cNvPr>
          <p:cNvSpPr txBox="1"/>
          <p:nvPr/>
        </p:nvSpPr>
        <p:spPr>
          <a:xfrm>
            <a:off x="5329667" y="6277348"/>
            <a:ext cx="185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5F0170-38F7-199A-0CFB-6F60E2D6B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927" y="3428999"/>
            <a:ext cx="3889327" cy="284834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8A4FF1-8E84-0EF0-04F7-13F9DD364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25" y="3429000"/>
            <a:ext cx="3314916" cy="284834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4016A1-1B75-814C-BAC7-B51C05E6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3</a:t>
            </a:fld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FBD0C65-6AF9-F5B9-968F-B74B79766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811" y="4040269"/>
            <a:ext cx="3889328" cy="2187747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11F647E-AB8A-3BC0-0D0A-A4C4AF5268C4}"/>
              </a:ext>
            </a:extLst>
          </p:cNvPr>
          <p:cNvSpPr txBox="1"/>
          <p:nvPr/>
        </p:nvSpPr>
        <p:spPr>
          <a:xfrm>
            <a:off x="9165581" y="6304201"/>
            <a:ext cx="2185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Confirmed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218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253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微軟正黑體</vt:lpstr>
      <vt:lpstr>微軟正黑體</vt:lpstr>
      <vt:lpstr>Aptos</vt:lpstr>
      <vt:lpstr>Aptos Display</vt:lpstr>
      <vt:lpstr>Arial</vt:lpstr>
      <vt:lpstr>Times New Roman</vt:lpstr>
      <vt:lpstr>Office 佈景主題</vt:lpstr>
      <vt:lpstr>3 交通違規辨識</vt:lpstr>
      <vt:lpstr>L1：是否有車輛位於禁停紅線上</vt:lpstr>
      <vt:lpstr>L1：是否有非公車之車輛位於公車停靠區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Chien</dc:creator>
  <cp:lastModifiedBy>Lily Chien</cp:lastModifiedBy>
  <cp:revision>14</cp:revision>
  <dcterms:created xsi:type="dcterms:W3CDTF">2026-05-11T02:01:47Z</dcterms:created>
  <dcterms:modified xsi:type="dcterms:W3CDTF">2026-05-14T02:20:51Z</dcterms:modified>
</cp:coreProperties>
</file>