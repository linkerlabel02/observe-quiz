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72" r:id="rId2"/>
    <p:sldId id="847" r:id="rId3"/>
    <p:sldId id="576" r:id="rId4"/>
    <p:sldId id="573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5D3EED-39A2-DA0F-106D-E4FBD326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6E5AAD-1A50-ACCD-A808-8CC488958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CCF8B7-260D-A7F9-6FBB-F248D5A0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A9CFD5-8DAF-1653-0B23-0AB10196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D43F7B-08A7-164A-9AA7-09B9F877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61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55E05-8842-835C-0603-DEB8C19F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BA4C4C-6D4D-541C-0FE5-FF736D08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A290F4-5441-6955-B4BF-67F76D6B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E1F46D-4387-28B9-6118-ACFB2969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C5ACF4-BF42-105F-22D4-0C2A9ED2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5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2FA313-3501-0663-85F1-2F41E003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E5D6F0-5428-16E7-419C-3AFE1975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6EF424-75B3-9BB4-D623-03432A89A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DD0C35-0651-201D-8C59-98AC1DF2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F78EB6-2537-7244-C74A-00C84CD6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22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BC98C-EE66-AD1E-5CF7-6924A9E9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2C9E9E-4A72-347C-409C-7615A2793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5DBB1A-7099-7AFE-4D59-7F1932BC2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781039-5F0E-4226-49C7-5BC4348A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9B954E-75B9-B074-33E9-D1359049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51FBD7-E569-8261-5384-D7F83884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67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90FDD-9760-EEC3-8EEB-5B83C4E7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2773D4-2AE4-C443-021E-9B5EC16A4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0A2940-9E12-97A5-2505-68904CE49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B6A900-746B-4FB1-4D4A-4EFA336A0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3C66C2-C595-584C-48E0-8B4FF0BA6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339D13-C3D6-7874-AD04-83B6CB94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B126F66-8E37-6A11-4317-92B31554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1CABEA-1E23-CF09-3E6A-1B7B2641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68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E4F06-A0D6-698D-27FC-EEB34E73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6AC056-0A05-D69D-CA6D-ED90A1EE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E70BC1-B611-8D5B-FCE0-6B6C7054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E9C6AD-0B5A-5E37-232C-6333937F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8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CFD581-8719-05F1-3BBE-7CBE070B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5F3A42-9F40-51BA-0515-6887F295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C6AD4F-108D-7E01-1DA9-EBFF9A15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76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D5D6D2-2662-2BCD-9133-408B8A3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D59166-5654-10B1-CE5B-12D3F0409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55878B-6CBB-F8A1-677F-F59891CAD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8F133B-6260-BBE3-7FB5-E8BE5722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7C0043-903F-EA15-2DCC-9C02A496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13DB3F-38C0-3E27-3174-8721DBCE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53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95F2F3-17B2-2EF8-0FA1-87995025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CC099BD-A4A9-5C92-A3F4-6A93B41B3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3DEC45-6A13-B6B4-A6A4-9FD6E0263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08CC37-3128-8CF2-C426-CA1E135AB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DE1E4F-A298-C374-1FEC-A8E6BF39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62AF09-1842-2AFB-3FAA-A6001AA6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65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E4E69-6ABF-6C10-52D7-2513FF15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A3C9BB5-15B6-C18A-39E9-002994D29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7E2C1B-0CAF-7EF6-80BE-91E71C2C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A52F2A-9817-9585-1434-4A629E2A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768B44-6496-0FA3-1498-9E9F442C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43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D1647E4-9E40-0343-8180-4BE828C9E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5A026D-8A98-4484-6240-7E8EB9172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887346-031F-2EAE-7800-1CF0899D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B5E0EB-2995-956F-4CD4-32685F8F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AA4520-D757-E756-6428-67C0A3FA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0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4EE3F2-42AA-7460-54EF-40C68D93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0DB740-D519-7145-3B71-4D88BD24C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4E658-9675-AD36-7993-E201FD660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ED019-4420-45E6-815B-FA4A1BB780F3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8DFADD-CA2D-EA70-4F97-C49D7D9AA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D88F5B-00C6-306E-83F8-2C64C8B5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81393-A924-45E9-B922-96D0CFC03C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42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4969-712E-7424-3372-63B26626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460CFF-B707-84E3-1D32-05C578B3E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7" y="1214438"/>
            <a:ext cx="9694606" cy="2387600"/>
          </a:xfrm>
        </p:spPr>
        <p:txBody>
          <a:bodyPr/>
          <a:lstStyle/>
          <a:p>
            <a:r>
              <a:rPr lang="en-US" altLang="zh-TW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20 </a:t>
            </a:r>
            <a:r>
              <a:rPr lang="zh-TW" altLang="en-US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道路標線、標示模糊辨識</a:t>
            </a:r>
            <a:endParaRPr lang="zh-TW" altLang="en-US"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FF58E4-3055-D473-39CE-05419CACD0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b="0" i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設施異常</a:t>
            </a:r>
          </a:p>
          <a:p>
            <a:pPr algn="l"/>
            <a:br>
              <a:rPr lang="zh-TW" altLang="en-US"/>
            </a:br>
            <a:endParaRPr lang="zh-TW" altLang="en-US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3FED89-B779-7005-894B-D3DEAED2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343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33CED-3196-3D06-304B-967FEFCA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AD54C-96CD-026B-EE80-B0B8F8FA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12" y="180632"/>
            <a:ext cx="11525086" cy="83886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明顯模糊的定義：以標線殘留百分比不足</a:t>
            </a:r>
            <a:r>
              <a:rPr lang="en-US" altLang="zh-TW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60%</a:t>
            </a:r>
            <a:r>
              <a:rPr lang="zh-TW" altLang="en-US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為判斷依據。</a:t>
            </a:r>
            <a:endParaRPr lang="zh-TW" altLang="en-US" sz="3200" dirty="0"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3">
            <a:extLst>
              <a:ext uri="{FF2B5EF4-FFF2-40B4-BE49-F238E27FC236}">
                <a16:creationId xmlns:a16="http://schemas.microsoft.com/office/drawing/2014/main" id="{A82B0941-4EC4-A6B0-EA59-AEF4AB5F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2</a:t>
            </a:fld>
            <a:endParaRPr kumimoji="1"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E9BD4852-FCB7-F392-DFF4-E928EAB66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8" t="28829" r="15117" b="39405"/>
          <a:stretch>
            <a:fillRect/>
          </a:stretch>
        </p:blipFill>
        <p:spPr>
          <a:xfrm>
            <a:off x="2172320" y="1631912"/>
            <a:ext cx="6633147" cy="4294582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F0EB75C0-B86C-CB9E-58BD-F13A6086849C}"/>
              </a:ext>
            </a:extLst>
          </p:cNvPr>
          <p:cNvSpPr txBox="1"/>
          <p:nvPr/>
        </p:nvSpPr>
        <p:spPr>
          <a:xfrm>
            <a:off x="4925568" y="1019494"/>
            <a:ext cx="1170432" cy="36933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明顯模糊</a:t>
            </a:r>
          </a:p>
        </p:txBody>
      </p:sp>
    </p:spTree>
    <p:extLst>
      <p:ext uri="{BB962C8B-B14F-4D97-AF65-F5344CB8AC3E}">
        <p14:creationId xmlns:p14="http://schemas.microsoft.com/office/powerpoint/2010/main" val="221897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48B95-7F48-23B4-9FDB-B675024F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FB08672-27B1-7842-40BE-DBCAD9155D5B}"/>
              </a:ext>
            </a:extLst>
          </p:cNvPr>
          <p:cNvSpPr txBox="1"/>
          <p:nvPr/>
        </p:nvSpPr>
        <p:spPr>
          <a:xfrm>
            <a:off x="1884944" y="41878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車道線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2E194F-588F-1772-765B-CD6F6397E23E}"/>
              </a:ext>
            </a:extLst>
          </p:cNvPr>
          <p:cNvSpPr txBox="1"/>
          <p:nvPr/>
        </p:nvSpPr>
        <p:spPr>
          <a:xfrm>
            <a:off x="1751870" y="6169580"/>
            <a:ext cx="12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停止線</a:t>
            </a:r>
          </a:p>
        </p:txBody>
      </p:sp>
      <p:pic>
        <p:nvPicPr>
          <p:cNvPr id="8194" name="Picture 2" descr="零事故研究所">
            <a:extLst>
              <a:ext uri="{FF2B5EF4-FFF2-40B4-BE49-F238E27FC236}">
                <a16:creationId xmlns:a16="http://schemas.microsoft.com/office/drawing/2014/main" id="{7540DBA6-6EC3-9C88-36B2-F70E8078E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91" y="934183"/>
            <a:ext cx="3513909" cy="323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F1A93B1-9800-F6E2-7E8C-2CA31019292C}"/>
              </a:ext>
            </a:extLst>
          </p:cNvPr>
          <p:cNvSpPr txBox="1"/>
          <p:nvPr/>
        </p:nvSpPr>
        <p:spPr>
          <a:xfrm>
            <a:off x="5750550" y="4198576"/>
            <a:ext cx="1240632" cy="37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行穿線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DF4DC5D-9B6E-028B-6674-50A68B2C6C85}"/>
              </a:ext>
            </a:extLst>
          </p:cNvPr>
          <p:cNvGrpSpPr/>
          <p:nvPr/>
        </p:nvGrpSpPr>
        <p:grpSpPr>
          <a:xfrm>
            <a:off x="610990" y="5039738"/>
            <a:ext cx="3513909" cy="1075603"/>
            <a:chOff x="596928" y="5209331"/>
            <a:chExt cx="3158980" cy="83122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D245F35-3A29-BA31-F7C4-F6BEB2191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928" y="5209331"/>
              <a:ext cx="3158980" cy="831220"/>
            </a:xfrm>
            <a:prstGeom prst="rect">
              <a:avLst/>
            </a:prstGeom>
          </p:spPr>
        </p:pic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FD7DAC4-887D-1A40-DC0D-690691444D30}"/>
                </a:ext>
              </a:extLst>
            </p:cNvPr>
            <p:cNvSpPr/>
            <p:nvPr/>
          </p:nvSpPr>
          <p:spPr>
            <a:xfrm>
              <a:off x="1269040" y="5575248"/>
              <a:ext cx="2085628" cy="19194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6D96851A-8C6F-AE35-22F9-8FE0857D5713}"/>
              </a:ext>
            </a:extLst>
          </p:cNvPr>
          <p:cNvGrpSpPr/>
          <p:nvPr/>
        </p:nvGrpSpPr>
        <p:grpSpPr>
          <a:xfrm>
            <a:off x="4651972" y="921052"/>
            <a:ext cx="3019695" cy="898108"/>
            <a:chOff x="4010791" y="1298057"/>
            <a:chExt cx="3257880" cy="117518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0346EAF-CE4A-CC27-3C96-A48723E20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9807" y="1334674"/>
              <a:ext cx="3228864" cy="1138569"/>
            </a:xfrm>
            <a:prstGeom prst="rect">
              <a:avLst/>
            </a:prstGeom>
          </p:spPr>
        </p:pic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4CA74F6-9A2F-EC14-275F-2DF89536A73C}"/>
                </a:ext>
              </a:extLst>
            </p:cNvPr>
            <p:cNvSpPr/>
            <p:nvPr/>
          </p:nvSpPr>
          <p:spPr>
            <a:xfrm>
              <a:off x="4010791" y="1298057"/>
              <a:ext cx="2851463" cy="6544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BACB3052-2905-F000-502A-05005781A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220" y="4648262"/>
            <a:ext cx="1462155" cy="150207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E5607DA-B608-73EF-F72A-56ADFCBDB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02" y="4648261"/>
            <a:ext cx="2063103" cy="1503873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FC85B65C-8825-F620-8629-3E2648248300}"/>
              </a:ext>
            </a:extLst>
          </p:cNvPr>
          <p:cNvSpPr txBox="1"/>
          <p:nvPr/>
        </p:nvSpPr>
        <p:spPr>
          <a:xfrm>
            <a:off x="4909038" y="61381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地面標字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92E8A971-9828-65F5-B8DF-E71780E71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491" y="2633628"/>
            <a:ext cx="2290227" cy="153903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ECAFE95-B8CD-0E2B-D83C-FA540B7BE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492" y="957535"/>
            <a:ext cx="2259614" cy="1568743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0CE6F3BC-2F95-F321-08DE-718A629F3180}"/>
              </a:ext>
            </a:extLst>
          </p:cNvPr>
          <p:cNvSpPr txBox="1"/>
          <p:nvPr/>
        </p:nvSpPr>
        <p:spPr>
          <a:xfrm>
            <a:off x="9507288" y="42072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槽化線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B99DA535-3589-B3D8-32E3-C306F8DD37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642" y="1900012"/>
            <a:ext cx="2928025" cy="228943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54CB305B-A37A-DA77-6B6F-E82D763FF63A}"/>
              </a:ext>
            </a:extLst>
          </p:cNvPr>
          <p:cNvSpPr/>
          <p:nvPr/>
        </p:nvSpPr>
        <p:spPr>
          <a:xfrm>
            <a:off x="4824888" y="2066116"/>
            <a:ext cx="2219075" cy="14880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F485EA3-B3A9-BD8B-0D6D-D863C980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58" y="205242"/>
            <a:ext cx="10515600" cy="704164"/>
          </a:xfrm>
        </p:spPr>
        <p:txBody>
          <a:bodyPr>
            <a:normAutofit/>
          </a:bodyPr>
          <a:lstStyle/>
          <a:p>
            <a:r>
              <a:rPr lang="zh-TW" altLang="en-US" sz="3200">
                <a:solidFill>
                  <a:srgbClr val="000000"/>
                </a:solidFill>
                <a:effectLst/>
                <a:ea typeface="微軟正黑體"/>
                <a:cs typeface="Times New Roman" panose="02020603050405020304" pitchFamily="18" charset="0"/>
              </a:rPr>
              <a:t>標線類型</a:t>
            </a:r>
            <a:endParaRPr lang="zh-TW" altLang="en-US" sz="3200"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6614B25-1FDB-2149-21BE-2CE85A8E54A4}"/>
              </a:ext>
            </a:extLst>
          </p:cNvPr>
          <p:cNvSpPr txBox="1"/>
          <p:nvPr/>
        </p:nvSpPr>
        <p:spPr>
          <a:xfrm>
            <a:off x="6659018" y="61381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地面標字</a:t>
            </a:r>
          </a:p>
        </p:txBody>
      </p:sp>
      <p:sp>
        <p:nvSpPr>
          <p:cNvPr id="17" name="投影片編號版面配置區 3">
            <a:extLst>
              <a:ext uri="{FF2B5EF4-FFF2-40B4-BE49-F238E27FC236}">
                <a16:creationId xmlns:a16="http://schemas.microsoft.com/office/drawing/2014/main" id="{1A43D3CC-EA1D-0A53-D6CC-FC59E1B1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3296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7E5E-301E-4601-EFEC-CFB95D4A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390BA-A5B8-2D37-D7A2-DB62D23F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45" y="180632"/>
            <a:ext cx="10515600" cy="806299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L</a:t>
            </a:r>
            <a:r>
              <a:rPr lang="en-US" altLang="zh-TW" sz="320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1</a:t>
            </a:r>
            <a:r>
              <a:rPr lang="zh-TW" altLang="en-US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：道路標線是否有明顯模糊</a:t>
            </a:r>
            <a:endParaRPr lang="zh-TW" altLang="en-US" sz="3200" dirty="0"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4C0592-6439-0840-441F-38208336D084}"/>
              </a:ext>
            </a:extLst>
          </p:cNvPr>
          <p:cNvSpPr txBox="1"/>
          <p:nvPr/>
        </p:nvSpPr>
        <p:spPr>
          <a:xfrm>
            <a:off x="541845" y="878320"/>
            <a:ext cx="10334513" cy="11680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3750" indent="-213750">
              <a:lnSpc>
                <a:spcPts val="2860"/>
              </a:lnSpc>
              <a:buFont typeface="Arial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Confirm：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畫面中道路標線有明顯模糊。</a:t>
            </a:r>
          </a:p>
          <a:p>
            <a:pPr marL="213750" indent="-213750">
              <a:lnSpc>
                <a:spcPts val="2860"/>
              </a:lnSpc>
              <a:buFont typeface="Arial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Alarm：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畫面中沒有任何道路標線標示明顯模糊。</a:t>
            </a:r>
            <a:r>
              <a:rPr lang="zh-TW" altLang="en-US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若畫面中沒有道路標線，則勾選</a:t>
            </a:r>
            <a:r>
              <a:rPr lang="en-US" altLang="zh-TW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13750" indent="-213750">
              <a:lnSpc>
                <a:spcPts val="2860"/>
              </a:lnSpc>
              <a:buFont typeface="Arial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Contuine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破圖、場站內、黑白圖、私人場域、鏡頭模糊。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122" name="Picture 2" descr="启东：标线老化，待换新装_手机搜狐网">
            <a:extLst>
              <a:ext uri="{FF2B5EF4-FFF2-40B4-BE49-F238E27FC236}">
                <a16:creationId xmlns:a16="http://schemas.microsoft.com/office/drawing/2014/main" id="{3F373C60-11A8-4FAB-5A0F-52C5CE8DE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5" y="2240781"/>
            <a:ext cx="2657711" cy="206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標線斑駁模糊了好幾年～「救援投手」江東成展開救援，畫設道路標線！ – 東台灣新聞網">
            <a:extLst>
              <a:ext uri="{FF2B5EF4-FFF2-40B4-BE49-F238E27FC236}">
                <a16:creationId xmlns:a16="http://schemas.microsoft.com/office/drawing/2014/main" id="{5271FA89-98B6-B586-C3EB-42D4253CD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909" y="2250565"/>
            <a:ext cx="2754730" cy="20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37FC5F0-2ECD-0FB5-6525-85ED3694317D}"/>
              </a:ext>
            </a:extLst>
          </p:cNvPr>
          <p:cNvSpPr txBox="1"/>
          <p:nvPr/>
        </p:nvSpPr>
        <p:spPr>
          <a:xfrm>
            <a:off x="2130140" y="4316612"/>
            <a:ext cx="76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</a:p>
        </p:txBody>
      </p:sp>
      <p:pic>
        <p:nvPicPr>
          <p:cNvPr id="5126" name="Picture 6" descr="把關道路標線品質標線繪設需符合規範| 勁報| LINE TODAY">
            <a:extLst>
              <a:ext uri="{FF2B5EF4-FFF2-40B4-BE49-F238E27FC236}">
                <a16:creationId xmlns:a16="http://schemas.microsoft.com/office/drawing/2014/main" id="{63654339-E035-7326-7C8A-AFF8EDB1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96" y="4655895"/>
            <a:ext cx="2646486" cy="187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D7B7CE3-829C-3F33-6A54-4FBA4ED04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9863" y="4623022"/>
            <a:ext cx="3017524" cy="190328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1440651-093F-1361-78A4-3DFB9B930DE8}"/>
              </a:ext>
            </a:extLst>
          </p:cNvPr>
          <p:cNvSpPr txBox="1"/>
          <p:nvPr/>
        </p:nvSpPr>
        <p:spPr>
          <a:xfrm>
            <a:off x="5039066" y="4316612"/>
            <a:ext cx="76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D89F8E-4658-D7BC-F66B-33541EB180DF}"/>
              </a:ext>
            </a:extLst>
          </p:cNvPr>
          <p:cNvSpPr txBox="1"/>
          <p:nvPr/>
        </p:nvSpPr>
        <p:spPr>
          <a:xfrm>
            <a:off x="1991815" y="6526305"/>
            <a:ext cx="57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否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EE5470-D309-006B-FBC4-85DFE71AA5DE}"/>
              </a:ext>
            </a:extLst>
          </p:cNvPr>
          <p:cNvSpPr txBox="1"/>
          <p:nvPr/>
        </p:nvSpPr>
        <p:spPr>
          <a:xfrm>
            <a:off x="5039066" y="6538912"/>
            <a:ext cx="57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否</a:t>
            </a:r>
          </a:p>
        </p:txBody>
      </p:sp>
      <p:sp>
        <p:nvSpPr>
          <p:cNvPr id="12" name="投影片編號版面配置區 3">
            <a:extLst>
              <a:ext uri="{FF2B5EF4-FFF2-40B4-BE49-F238E27FC236}">
                <a16:creationId xmlns:a16="http://schemas.microsoft.com/office/drawing/2014/main" id="{D6D1B2BD-2023-7D8D-A341-C22568A4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083EF2-434B-E3DC-FCE7-A95A72F7DA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8" y="2306930"/>
            <a:ext cx="3207303" cy="180410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5CDDEA6-82DE-5106-9A65-C034A4A3BB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8" y="4306829"/>
            <a:ext cx="3207303" cy="180410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EE175F3-5902-B0FE-A1C2-A21C81108E5E}"/>
              </a:ext>
            </a:extLst>
          </p:cNvPr>
          <p:cNvSpPr txBox="1"/>
          <p:nvPr/>
        </p:nvSpPr>
        <p:spPr>
          <a:xfrm>
            <a:off x="9292326" y="6302923"/>
            <a:ext cx="181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Contuine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6362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126</Words>
  <Application>Microsoft Office PowerPoint</Application>
  <PresentationFormat>寬螢幕</PresentationFormat>
  <Paragraphs>25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微軟正黑體</vt:lpstr>
      <vt:lpstr>微軟正黑體</vt:lpstr>
      <vt:lpstr>Aptos</vt:lpstr>
      <vt:lpstr>Aptos Display</vt:lpstr>
      <vt:lpstr>Arial</vt:lpstr>
      <vt:lpstr>Times New Roman</vt:lpstr>
      <vt:lpstr>Office 佈景主題</vt:lpstr>
      <vt:lpstr>20 道路標線、標示模糊辨識</vt:lpstr>
      <vt:lpstr>明顯模糊的定義：以標線殘留百分比不足60%為判斷依據。</vt:lpstr>
      <vt:lpstr>標線類型</vt:lpstr>
      <vt:lpstr>L1：道路標線是否有明顯模糊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Chien</dc:creator>
  <cp:lastModifiedBy>Lily Chien</cp:lastModifiedBy>
  <cp:revision>11</cp:revision>
  <dcterms:created xsi:type="dcterms:W3CDTF">2026-05-11T07:50:06Z</dcterms:created>
  <dcterms:modified xsi:type="dcterms:W3CDTF">2026-05-18T02:34:18Z</dcterms:modified>
</cp:coreProperties>
</file>